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5"/>
  </p:normalViewPr>
  <p:slideViewPr>
    <p:cSldViewPr snapToGrid="0">
      <p:cViewPr>
        <p:scale>
          <a:sx n="104" d="100"/>
          <a:sy n="104" d="100"/>
        </p:scale>
        <p:origin x="92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3D365D-1E98-BB42-9473-3280875BC983}" type="datetimeFigureOut">
              <a:rPr lang="en-US" smtClean="0"/>
              <a:t>5/6/25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40CC5-063B-924C-AD65-77F24D22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36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0A5F1-7A9D-4248-BAC1-C9851FEAF567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1D17F-D086-B242-A4FE-1834CDB117AD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2A6E-C534-354D-88ED-8E8C3421E0A0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4E6BA-0B0D-B844-98CE-901401C165D5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2EB60-5562-664A-8FF1-D4A1708526A5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6C74D-2939-3842-8A88-AA56068667CD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BD1D8-C54E-444D-B011-561197025182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5285-DD92-374F-92B8-9CCED64F0B3E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6C02D566-357A-7147-98DB-40D028D4609A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E398-2DE1-574E-9FFD-4B58CD3F1B2D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1F2CA-4603-5341-9C04-FD7CE34F5350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2FDC-2D63-954B-A2AD-A6130F5F921D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0B5EA-DE4B-0D47-B140-C1385AB2EDAE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B51B-5EC9-6045-B0D1-44EF87594D50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85E8A-991F-7440-ADD5-F8CA8BAB90FC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DA8BE-5D20-F247-AAA9-A807D0BA094A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C9C30-494F-B843-85B8-C61149EB80A4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736E6D7-CB50-4048-BC59-82CA23FB4448}" type="datetime1">
              <a:rPr lang="en-US" smtClean="0"/>
              <a:t>5/6/25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C8C8-038D-1719-06C3-5389397E6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3610" y="0"/>
            <a:ext cx="8676222" cy="3200400"/>
          </a:xfrm>
        </p:spPr>
        <p:txBody>
          <a:bodyPr/>
          <a:lstStyle/>
          <a:p>
            <a:r>
              <a:rPr lang="en-US" b="1" dirty="0">
                <a:solidFill>
                  <a:srgbClr val="000082"/>
                </a:solidFill>
                <a:effectLst/>
                <a:latin typeface="Canela Deck" pitchFamily="2" charset="0"/>
              </a:rPr>
              <a:t>From Natural Language to SQL</a:t>
            </a:r>
            <a:br>
              <a:rPr lang="en-US" dirty="0">
                <a:solidFill>
                  <a:srgbClr val="000082"/>
                </a:solidFill>
                <a:effectLst/>
                <a:latin typeface="Canela Deck" pitchFamily="2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32E17-085F-AA21-F6B7-7FFCBEEA3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889" y="2809754"/>
            <a:ext cx="8676222" cy="19050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  <a:effectLst/>
                <a:latin typeface="Graphik" panose="020B0503030202060203" pitchFamily="34" charset="77"/>
              </a:rPr>
              <a:t>A Hybrid Approach for Non-Technical Database</a:t>
            </a:r>
          </a:p>
          <a:p>
            <a:r>
              <a:rPr lang="en-US" dirty="0">
                <a:solidFill>
                  <a:schemeClr val="tx1"/>
                </a:solidFill>
                <a:effectLst/>
                <a:latin typeface="Graphik" panose="020B0503030202060203" pitchFamily="34" charset="77"/>
              </a:rPr>
              <a:t>Querying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907DE1B-6AB1-47F9-4A00-0242CD9AA3FB}"/>
              </a:ext>
            </a:extLst>
          </p:cNvPr>
          <p:cNvSpPr txBox="1">
            <a:spLocks/>
          </p:cNvSpPr>
          <p:nvPr/>
        </p:nvSpPr>
        <p:spPr>
          <a:xfrm>
            <a:off x="1757889" y="4316392"/>
            <a:ext cx="8676222" cy="1905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dirty="0">
                <a:solidFill>
                  <a:schemeClr val="tx1"/>
                </a:solidFill>
                <a:effectLst/>
                <a:latin typeface="Graphik" panose="020B0503030202060203" pitchFamily="34" charset="77"/>
              </a:rPr>
              <a:t>Chetan Rajendra Rahane 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effectLst/>
                <a:latin typeface="Graphik" panose="020B0503030202060203" pitchFamily="34" charset="77"/>
              </a:rPr>
              <a:t>Kunal Prakash </a:t>
            </a:r>
            <a:r>
              <a:rPr lang="en-US" dirty="0" err="1">
                <a:solidFill>
                  <a:schemeClr val="tx1"/>
                </a:solidFill>
                <a:effectLst/>
                <a:latin typeface="Graphik" panose="020B0503030202060203" pitchFamily="34" charset="77"/>
              </a:rPr>
              <a:t>Koshti</a:t>
            </a:r>
            <a:r>
              <a:rPr lang="en-US" dirty="0">
                <a:solidFill>
                  <a:schemeClr val="tx1"/>
                </a:solidFill>
                <a:effectLst/>
                <a:latin typeface="Graphik" panose="020B0503030202060203" pitchFamily="34" charset="77"/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  <a:effectLst/>
                <a:latin typeface="Graphik" panose="020B0503030202060203" pitchFamily="34" charset="77"/>
              </a:rPr>
              <a:t>Omkar Suresh Kadam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6CB2F-5919-DCF6-4F7B-001C1D5B3E86}"/>
              </a:ext>
            </a:extLst>
          </p:cNvPr>
          <p:cNvSpPr txBox="1"/>
          <p:nvPr/>
        </p:nvSpPr>
        <p:spPr>
          <a:xfrm>
            <a:off x="626770" y="6244013"/>
            <a:ext cx="3001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/>
                <a:latin typeface="Graphik" panose="020B0503030202060203" pitchFamily="34" charset="77"/>
              </a:rPr>
              <a:t>Prof. Tatiana </a:t>
            </a:r>
            <a:r>
              <a:rPr lang="en-US" dirty="0" err="1">
                <a:effectLst/>
                <a:latin typeface="Graphik" panose="020B0503030202060203" pitchFamily="34" charset="77"/>
              </a:rPr>
              <a:t>Erekhinskaya</a:t>
            </a:r>
            <a:endParaRPr lang="en-US" dirty="0">
              <a:effectLst/>
              <a:latin typeface="Graphik" panose="020B0503030202060203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63D3A1-85EA-B8D6-B73C-6D1BE1FF2DB2}"/>
              </a:ext>
            </a:extLst>
          </p:cNvPr>
          <p:cNvSpPr txBox="1"/>
          <p:nvPr/>
        </p:nvSpPr>
        <p:spPr>
          <a:xfrm>
            <a:off x="9190299" y="6244013"/>
            <a:ext cx="2305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/>
                <a:latin typeface="Graphik" panose="020B0503030202060203" pitchFamily="34" charset="77"/>
              </a:rPr>
              <a:t>CS6320 - Spring 25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BA79B-535A-9A11-3AA0-6FCB86EC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938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EF8982E-02F0-4D24-85CB-98DEBCC3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870DD-69DF-8666-2377-D5B7D77DB323}"/>
              </a:ext>
            </a:extLst>
          </p:cNvPr>
          <p:cNvSpPr txBox="1"/>
          <p:nvPr/>
        </p:nvSpPr>
        <p:spPr>
          <a:xfrm>
            <a:off x="643192" y="2666999"/>
            <a:ext cx="3643674" cy="32162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US" cap="small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Architecture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2CB72970-2D5B-4516-9F76-B1220A77B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0994" y="620720"/>
            <a:ext cx="6929447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82A5824F-987F-24CE-003F-B0C50DAD8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626" y="1699063"/>
            <a:ext cx="5934182" cy="311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87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7844F0-D6B8-F920-5786-9F13775D0A99}"/>
              </a:ext>
            </a:extLst>
          </p:cNvPr>
          <p:cNvSpPr txBox="1"/>
          <p:nvPr/>
        </p:nvSpPr>
        <p:spPr>
          <a:xfrm>
            <a:off x="643192" y="609600"/>
            <a:ext cx="3643674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1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C810A-6FEE-4611-E7BA-706E20D86044}"/>
              </a:ext>
            </a:extLst>
          </p:cNvPr>
          <p:cNvSpPr txBox="1"/>
          <p:nvPr/>
        </p:nvSpPr>
        <p:spPr>
          <a:xfrm>
            <a:off x="643192" y="2666999"/>
            <a:ext cx="3643674" cy="32162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cap="small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NL2SQL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WikiSQL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Self-generated using Python Script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cap="small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10" name="Picture 9" descr="A group of white squares on a black background&#10;&#10;AI-generated content may be incorrect.">
            <a:extLst>
              <a:ext uri="{FF2B5EF4-FFF2-40B4-BE49-F238E27FC236}">
                <a16:creationId xmlns:a16="http://schemas.microsoft.com/office/drawing/2014/main" id="{B44B5AE7-B65D-5095-ED22-DB0986598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4" y="960554"/>
            <a:ext cx="6916633" cy="4616851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04040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DE404-7735-88DD-79B3-FEB47E38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578" y="273184"/>
            <a:ext cx="867622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Model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6E578-3A2C-1110-96B5-6A8B3EA1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6217920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 smtClean="0"/>
              <a:pPr defTabSz="914400"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4F9FB6-1B43-2D1F-B775-8452FF891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146152"/>
              </p:ext>
            </p:extLst>
          </p:nvPr>
        </p:nvGraphicFramePr>
        <p:xfrm>
          <a:off x="809075" y="2072595"/>
          <a:ext cx="10569227" cy="3602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1901">
                  <a:extLst>
                    <a:ext uri="{9D8B030D-6E8A-4147-A177-3AD203B41FA5}">
                      <a16:colId xmlns:a16="http://schemas.microsoft.com/office/drawing/2014/main" val="984837146"/>
                    </a:ext>
                  </a:extLst>
                </a:gridCol>
                <a:gridCol w="3825598">
                  <a:extLst>
                    <a:ext uri="{9D8B030D-6E8A-4147-A177-3AD203B41FA5}">
                      <a16:colId xmlns:a16="http://schemas.microsoft.com/office/drawing/2014/main" val="4282654000"/>
                    </a:ext>
                  </a:extLst>
                </a:gridCol>
                <a:gridCol w="2384626">
                  <a:extLst>
                    <a:ext uri="{9D8B030D-6E8A-4147-A177-3AD203B41FA5}">
                      <a16:colId xmlns:a16="http://schemas.microsoft.com/office/drawing/2014/main" val="2538972179"/>
                    </a:ext>
                  </a:extLst>
                </a:gridCol>
                <a:gridCol w="3017102">
                  <a:extLst>
                    <a:ext uri="{9D8B030D-6E8A-4147-A177-3AD203B41FA5}">
                      <a16:colId xmlns:a16="http://schemas.microsoft.com/office/drawing/2014/main" val="1055843307"/>
                    </a:ext>
                  </a:extLst>
                </a:gridCol>
              </a:tblGrid>
              <a:tr h="38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Pros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Cons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Why Not Chosen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981033"/>
                  </a:ext>
                </a:extLst>
              </a:tr>
              <a:tr h="643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T5-small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Fast inference, 60M params, seq2seq architecture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Limited context window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Chosen for balance of speed/accuracy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336623"/>
                  </a:ext>
                </a:extLst>
              </a:tr>
              <a:tr h="643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T5-base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Better accuracy (220M params)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Resource-intensive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Rejected due to GPU constraints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379637"/>
                  </a:ext>
                </a:extLst>
              </a:tr>
              <a:tr h="643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BERT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Strong text understanding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Not seq2seq architecture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Requires separate decoder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168557"/>
                  </a:ext>
                </a:extLst>
              </a:tr>
              <a:tr h="643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GPT-3.5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State-of-the-art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API costs, closed-source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Rejected for budget reasons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192755"/>
                  </a:ext>
                </a:extLst>
              </a:tr>
              <a:tr h="643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Codex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SQL-specific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  <a:effectLst/>
                        </a:rPr>
                        <a:t>Proprietary model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</a:rPr>
                        <a:t>Not accessible for customization</a:t>
                      </a:r>
                    </a:p>
                  </a:txBody>
                  <a:tcPr marL="41972" marR="41972" marT="41972" marB="419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5805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707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831D-F61E-283D-27CF-8FD470A8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4" y="847726"/>
            <a:ext cx="6150510" cy="3200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Live Demo</a:t>
            </a:r>
          </a:p>
        </p:txBody>
      </p:sp>
      <p:pic>
        <p:nvPicPr>
          <p:cNvPr id="6" name="Picture 5" descr="A cartoon of a person using a computer&#10;&#10;AI-generated content may be incorrect.">
            <a:extLst>
              <a:ext uri="{FF2B5EF4-FFF2-40B4-BE49-F238E27FC236}">
                <a16:creationId xmlns:a16="http://schemas.microsoft.com/office/drawing/2014/main" id="{42BA1F85-64C6-5190-146E-96F3F0E46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131" y="913312"/>
            <a:ext cx="3416888" cy="5118933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9106B-09BD-C192-22DF-C6A60839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6221206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5</a:t>
            </a:fld>
            <a:endParaRPr lang="en-US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431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D069E-7E23-5AAE-5FE7-884AAFBC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170C2-2261-BC58-E8C5-D4A4F2DD1841}"/>
              </a:ext>
            </a:extLst>
          </p:cNvPr>
          <p:cNvSpPr txBox="1"/>
          <p:nvPr/>
        </p:nvSpPr>
        <p:spPr>
          <a:xfrm>
            <a:off x="692619" y="300681"/>
            <a:ext cx="3643674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1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5F82D-4C37-CD9A-4DC0-E9144BF0B037}"/>
              </a:ext>
            </a:extLst>
          </p:cNvPr>
          <p:cNvSpPr txBox="1"/>
          <p:nvPr/>
        </p:nvSpPr>
        <p:spPr>
          <a:xfrm>
            <a:off x="1075038" y="3064476"/>
            <a:ext cx="49808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RAG integration</a:t>
            </a:r>
          </a:p>
          <a:p>
            <a:r>
              <a:rPr lang="en-US" dirty="0"/>
              <a:t>Specific schema based system build</a:t>
            </a:r>
          </a:p>
          <a:p>
            <a:r>
              <a:rPr lang="en-US" dirty="0"/>
              <a:t>Improved data quality for training of model</a:t>
            </a:r>
          </a:p>
        </p:txBody>
      </p:sp>
    </p:spTree>
    <p:extLst>
      <p:ext uri="{BB962C8B-B14F-4D97-AF65-F5344CB8AC3E}">
        <p14:creationId xmlns:p14="http://schemas.microsoft.com/office/powerpoint/2010/main" val="2592259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55B9B6-3284-4A87-B88E-29DF8ECF8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8B67C4-8CC9-99FB-07C2-F05A0C40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098" y="609600"/>
            <a:ext cx="4798142" cy="36428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Thank you!!!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9B5F5ECB-A05F-4FAD-9AAC-BC767A81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290" y="620720"/>
            <a:ext cx="5457375" cy="5597200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Cartoon of a person with white hair&#10;&#10;AI-generated content may be incorrect.">
            <a:extLst>
              <a:ext uri="{FF2B5EF4-FFF2-40B4-BE49-F238E27FC236}">
                <a16:creationId xmlns:a16="http://schemas.microsoft.com/office/drawing/2014/main" id="{DAF74726-1625-6A7D-FEAF-AC630DC8E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167" y="1174509"/>
            <a:ext cx="4489621" cy="448962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56C04-7299-7A67-D273-65C2EA61A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2" y="6217920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>
                <a:solidFill>
                  <a:srgbClr val="BFBFBF"/>
                </a:solidFill>
              </a:rPr>
              <a:pPr defTabSz="914400">
                <a:spcAft>
                  <a:spcPts val="600"/>
                </a:spcAft>
              </a:pPr>
              <a:t>7</a:t>
            </a:fld>
            <a:endParaRPr lang="en-US">
              <a:solidFill>
                <a:srgbClr val="BFBF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502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21</TotalTime>
  <Words>132</Words>
  <Application>Microsoft Macintosh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Canela Deck</vt:lpstr>
      <vt:lpstr>Century Gothic</vt:lpstr>
      <vt:lpstr>Graphik</vt:lpstr>
      <vt:lpstr>Mesh</vt:lpstr>
      <vt:lpstr>From Natural Language to SQL </vt:lpstr>
      <vt:lpstr>PowerPoint Presentation</vt:lpstr>
      <vt:lpstr>PowerPoint Presentation</vt:lpstr>
      <vt:lpstr>Model selection</vt:lpstr>
      <vt:lpstr>Live Demo</vt:lpstr>
      <vt:lpstr>PowerPoint Presentation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Rahane, Chetan Rajendra</dc:creator>
  <cp:lastModifiedBy>Rahane, Chetan Rajendra</cp:lastModifiedBy>
  <cp:revision>1</cp:revision>
  <dcterms:created xsi:type="dcterms:W3CDTF">2025-05-06T22:49:04Z</dcterms:created>
  <dcterms:modified xsi:type="dcterms:W3CDTF">2025-05-06T23:10:28Z</dcterms:modified>
</cp:coreProperties>
</file>